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Trebuchet MS"/>
              </a:rPr>
              <a:t>Error vs. number of clusters (K)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(inertia)</c:v>
                </c:pt>
              </c:strCache>
            </c:strRef>
          </c:tx>
          <c:spPr>
            <a:ln w="44450" cap="flat">
              <a:solidFill>
                <a:srgbClr val="6366F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320</c:v>
                </c:pt>
                <c:pt idx="1">
                  <c:v>175</c:v>
                </c:pt>
                <c:pt idx="2">
                  <c:v>92</c:v>
                </c:pt>
                <c:pt idx="3">
                  <c:v>74</c:v>
                </c:pt>
                <c:pt idx="4">
                  <c:v>62</c:v>
                </c:pt>
                <c:pt idx="5">
                  <c:v>54</c:v>
                </c:pt>
                <c:pt idx="6">
                  <c:v>48</c:v>
                </c:pt>
                <c:pt idx="7">
                  <c:v>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4B6-4F45-8231-6B85A41AA2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K (clusters)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Error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78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0" y="96012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2760" y="12344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68580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55680" y="1371600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25880" y="598932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6126480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118872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399032"/>
            <a:ext cx="448056" cy="4480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GUIDE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" y="27432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Machine Learning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86384" y="4160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K-Means Clustering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22960" y="5029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hidden patterns in data — without any labels.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Start Here. Go Global.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Main Families of Machine Learning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75688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2421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9397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691640" y="24597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data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01752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72691" y="4149547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310689" y="4269516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653692" y="3999586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13077" y="3549701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062679" y="342973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19676" y="366967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86684" y="3924605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712281" y="362468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50292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already has a known answer (a label).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E4FAF5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37960" y="2075688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2242109"/>
            <a:ext cx="307238" cy="30723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209397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7315200" y="24597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UNLABELLED data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37960" y="301752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496251" y="4149547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934249" y="4269516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7277252" y="3999586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0036637" y="3549701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9686239" y="3429732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0343236" y="3669670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810244" y="3924605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9335841" y="3624682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537960" y="50292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at all — the model must discover the structure itself.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Supervised Learning Works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760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03504" cy="603504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230575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Labelled data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45920" y="2441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example comes with the correct answer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46120" y="3044952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3291840"/>
            <a:ext cx="5760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68680" y="3566160"/>
            <a:ext cx="603504" cy="6035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91" y="3723071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645920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the mapping from input → label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46120" y="4462272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4709160"/>
            <a:ext cx="5760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868680" y="4983480"/>
            <a:ext cx="603504" cy="6035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591" y="5140391"/>
            <a:ext cx="289682" cy="2896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Predicts labels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645920" y="5276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can label brand-new, unseen data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766560" y="1874520"/>
            <a:ext cx="4754880" cy="4160520"/>
          </a:xfrm>
          <a:prstGeom prst="roundRect">
            <a:avLst>
              <a:gd name="adj" fmla="val 2637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7086600" y="2167128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3511" y="2324039"/>
            <a:ext cx="289682" cy="28968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863840" y="2194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example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713232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spam filter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7132320" y="3429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feed it thousands of emails already marked 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“spam”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spam”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132320" y="43891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is the teacher. Without those answers, the model has nothing to learn from.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of Supervised Learning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EEBE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40080" cy="640080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2306117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 labelled data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0584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example must be tagged by a human first — and most real-world data has no labels.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EF4E3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6248" y="2139696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69" y="2306117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Labelling is expensive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62940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people to label millions of rows costs huge time and money.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4FAF5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288536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9" y="445495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to prepare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00584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and cleaning labels can take weeks before training even begins.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4288536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69" y="4454957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Stuck to known classes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62940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predict categories it was shown — it can't discover new, unknown groups.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We Have Supervised, Why Do We Need Unsupervised?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6366F1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 data is UNLABELLED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simply can't use most of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6903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92040" y="221284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951" y="2369759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21122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with raw data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715000" y="24963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huge oceans of data that nobody has labelled.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17720" y="3291840"/>
            <a:ext cx="6903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363016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951" y="3787079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35295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Discovers the unknown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715000" y="39136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groups and patterns you didn't even know existed.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17720" y="4709160"/>
            <a:ext cx="6903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92040" y="504748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951" y="5204399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15000" y="49469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Saves time &amp; money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715000" y="533095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costly, slow human-labelling step needed.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Unsupervised Learning?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</a:t>
            </a: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data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let it find the </a:t>
            </a: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structure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its own — no answers provided.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95079" y="4720133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91929" y="4478731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76024" y="4285610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50669" y="4768413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33189" y="4382171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53819" y="457529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34917" y="4720133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8067" y="452701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3657" y="4430451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57122" y="4864974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52396" y="467185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15862" y="457529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85628" y="3416564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42793" y="3585545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47518" y="3537265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84053" y="3223443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41218" y="3392424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04683" y="3513125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532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unlabelled points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532120" y="365760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858768"/>
            <a:ext cx="420624" cy="42062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49240" y="4526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995160" y="269748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721559" y="4720133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118409" y="4478731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602504" y="428561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277149" y="4768413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959669" y="4382171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880299" y="457529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261397" y="4720133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864547" y="452701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0420137" y="4430451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983602" y="4864974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0578876" y="467185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0142342" y="457529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912108" y="3416564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269273" y="3585545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673998" y="3537265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110533" y="3223443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9467698" y="3392424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9031163" y="3513125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995160" y="5532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groups (clusters)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of Unsupervised Learning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8FBE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2306117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labels required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0584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on raw data — skip the costly labelling step entirely.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4FAF5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6248" y="2139696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69" y="2306117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Finds hidden patterns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62940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groups and relationships humans might never notice.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EF4E3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288536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9" y="445495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for exploration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00584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first step to understand a new dataset before deeper analysis.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4288536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69" y="4454957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 to big data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62940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Happily handles the huge volumes of unlabelled data we collect today.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Disadvantages of Unsupervised Learning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EEBE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40080" cy="640080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2306117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“right answer”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0584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labels, you can't easily measure how correct the results are.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EF4E3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6248" y="2139696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69" y="2306117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to evaluate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62940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need a human expert to judge whether the groups make sense.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288536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9" y="445495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Sensitive to settings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00584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like the number of groups can change the outcome a lot.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2ECFD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4288536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69" y="4454957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can be vague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62940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patterns may be noisy and not always meaningful.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USE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Clustering?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</a:t>
            </a:r>
            <a:r>
              <a:rPr lang="en-US" sz="1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grouping similar things together.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that are close to each other go in the same group. Points far apart go in different groups. The model decides the groups by itself.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4133088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laundry into piles by colour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70001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440" y="4636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songs into playlists by vibe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526694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5202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shoppers into customer types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40585" y="4967021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19731" y="4583887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96841" y="42773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11389" y="50436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28072" y="443063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32243" y="4737141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307117" y="4967021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27971" y="4660514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498775" y="450726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71715" y="5196901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690433" y="4890394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163373" y="4737141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78022" y="2898099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09253" y="3166293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90534" y="3089666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17595" y="2591592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348826" y="2859786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21765" y="3051353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groups found automatically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ALGORITHM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K-Means Clustering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the most popular clustering algorithm — simple, fast, and easy to understand.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103120" y="26974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the number of clusters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3108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K up front. K=3 means “split my data into 3 groups.”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24688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E4FAF5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49440" y="310896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22" y="3311042"/>
            <a:ext cx="373075" cy="3730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09560" y="2697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Means = centre points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09560" y="3108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has a centre called a centroid — the average (mean) position of its points.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61772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914400" cy="914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461772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splits your data into K groups so that points in each group are as close as possible to their group's centre.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K-Means Works — Visually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86856" y="3866998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11798" y="3663086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9373" y="3499957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01775" y="3907780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21821" y="3581522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76833" y="3744651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26487" y="3866998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01545" y="3703869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16464" y="3622304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69028" y="3989344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06441" y="3826215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59004" y="3744651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61683" y="2765877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64131" y="2908615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26718" y="2867833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74154" y="2602748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76602" y="2745486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9166" y="2847442"/>
            <a:ext cx="118872" cy="118872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441460" y="3001061"/>
            <a:ext cx="219456" cy="219456"/>
          </a:xfrm>
          <a:prstGeom prst="diamond">
            <a:avLst/>
          </a:prstGeom>
          <a:solidFill>
            <a:srgbClr val="6366F1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71299" y="3306928"/>
            <a:ext cx="219456" cy="219456"/>
          </a:xfrm>
          <a:prstGeom prst="diamond">
            <a:avLst/>
          </a:prstGeom>
          <a:solidFill>
            <a:srgbClr val="14B8A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46356" y="3775923"/>
            <a:ext cx="219456" cy="219456"/>
          </a:xfrm>
          <a:prstGeom prst="diamond">
            <a:avLst/>
          </a:prstGeom>
          <a:solidFill>
            <a:srgbClr val="F59E0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" y="225856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45902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centroids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94360" y="49377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K random centres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64992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11768" y="386699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36710" y="366308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744285" y="3499957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126687" y="39077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46733" y="3581522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901745" y="3744651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51399" y="386699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26457" y="3703869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41376" y="3622304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93940" y="398934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31353" y="3826215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183916" y="3744651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486595" y="2765877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89043" y="2908615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351630" y="2867833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99066" y="2602748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01514" y="2745486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54078" y="2847442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166372" y="3001061"/>
            <a:ext cx="219456" cy="219456"/>
          </a:xfrm>
          <a:prstGeom prst="diamond">
            <a:avLst/>
          </a:prstGeom>
          <a:solidFill>
            <a:srgbClr val="6366F1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96211" y="3306928"/>
            <a:ext cx="219456" cy="219456"/>
          </a:xfrm>
          <a:prstGeom prst="diamond">
            <a:avLst/>
          </a:prstGeom>
          <a:solidFill>
            <a:srgbClr val="14B8A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571268" y="3775923"/>
            <a:ext cx="219456" cy="219456"/>
          </a:xfrm>
          <a:prstGeom prst="diamond">
            <a:avLst/>
          </a:prstGeom>
          <a:solidFill>
            <a:srgbClr val="F59E0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474720" y="225856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7472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364992" y="45902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points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3319272" y="49377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joins its nearest centre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089904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536680" y="386699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761622" y="366308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469197" y="3499957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851599" y="39077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671645" y="3581522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626657" y="3744651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976311" y="386699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751369" y="3703869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066288" y="3622304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818852" y="398934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156265" y="3826215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908828" y="3744651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211507" y="2765877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413955" y="2908615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076542" y="2867833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323978" y="2602748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526426" y="2745486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278990" y="2847442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071238" y="2927143"/>
            <a:ext cx="219456" cy="219456"/>
          </a:xfrm>
          <a:prstGeom prst="diamond">
            <a:avLst/>
          </a:prstGeom>
          <a:solidFill>
            <a:srgbClr val="6366F1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920396" y="3673968"/>
            <a:ext cx="219456" cy="219456"/>
          </a:xfrm>
          <a:prstGeom prst="diamond">
            <a:avLst/>
          </a:prstGeom>
          <a:solidFill>
            <a:srgbClr val="14B8A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044995" y="3789517"/>
            <a:ext cx="219456" cy="219456"/>
          </a:xfrm>
          <a:prstGeom prst="diamond">
            <a:avLst/>
          </a:prstGeom>
          <a:solidFill>
            <a:srgbClr val="F59E0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199632" y="225856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19963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089904" y="45902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centres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6044184" y="49377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Recenter each centroid on its group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814816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9261592" y="386699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9486534" y="366308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9194109" y="3499957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9576511" y="39077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9396557" y="358152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351569" y="3744651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0701223" y="3866998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0476281" y="3703869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0791200" y="3622304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543764" y="3989344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0881177" y="3826215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633740" y="3744651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9936419" y="2765877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138867" y="2908615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801454" y="2867833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0048890" y="2602748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251338" y="2745486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0003902" y="2847442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979853" y="2739375"/>
            <a:ext cx="219456" cy="219456"/>
          </a:xfrm>
          <a:prstGeom prst="diamond">
            <a:avLst/>
          </a:prstGeom>
          <a:solidFill>
            <a:srgbClr val="6366F1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0620939" y="3741938"/>
            <a:ext cx="219456" cy="219456"/>
          </a:xfrm>
          <a:prstGeom prst="diamond">
            <a:avLst/>
          </a:prstGeom>
          <a:solidFill>
            <a:srgbClr val="14B8A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327520" y="3660374"/>
            <a:ext cx="219456" cy="219456"/>
          </a:xfrm>
          <a:prstGeom prst="diamond">
            <a:avLst/>
          </a:prstGeom>
          <a:solidFill>
            <a:srgbClr val="F59E0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924544" y="225856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8924544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8814816" y="45902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→ done</a:t>
            </a:r>
            <a:endParaRPr lang="en-US" sz="1350" dirty="0"/>
          </a:p>
        </p:txBody>
      </p:sp>
      <p:sp>
        <p:nvSpPr>
          <p:cNvPr id="107" name="Text 105"/>
          <p:cNvSpPr/>
          <p:nvPr/>
        </p:nvSpPr>
        <p:spPr>
          <a:xfrm>
            <a:off x="8769096" y="49377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centres stop moving</a:t>
            </a:r>
            <a:endParaRPr lang="en-US" sz="1150" dirty="0"/>
          </a:p>
        </p:txBody>
      </p:sp>
      <p:sp>
        <p:nvSpPr>
          <p:cNvPr id="108" name="Shape 106"/>
          <p:cNvSpPr/>
          <p:nvPr/>
        </p:nvSpPr>
        <p:spPr>
          <a:xfrm>
            <a:off x="4297680" y="5989320"/>
            <a:ext cx="201168" cy="201168"/>
          </a:xfrm>
          <a:prstGeom prst="diamond">
            <a:avLst/>
          </a:prstGeom>
          <a:solidFill>
            <a:srgbClr val="1E2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572000" y="5943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centroid (cluster centre)</a:t>
            </a:r>
            <a:endParaRPr lang="en-US" sz="1150" dirty="0"/>
          </a:p>
        </p:txBody>
      </p:sp>
      <p:sp>
        <p:nvSpPr>
          <p:cNvPr id="110" name="Shape 108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in 4 Simple Steps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57400"/>
            <a:ext cx="603504" cy="603504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2143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08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K &amp; place centres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12080" y="20574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many groups (K), then drop K starting centroids at random.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78992" y="2862072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2935224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96112" y="3118104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023" y="3275015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081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691640" y="33467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each point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212080" y="31181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every data point to its closest centroid.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78992" y="3922776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0080" y="3995928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96112" y="4178808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335719"/>
            <a:ext cx="289682" cy="2896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91640" y="4142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691640" y="4407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the centres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212080" y="4178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each centroid to the average position of its assigned points.</a:t>
            </a:r>
            <a:endParaRPr lang="en-US" sz="13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78992" y="498348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40080" y="5056632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896112" y="5239512"/>
            <a:ext cx="603504" cy="60350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23" y="5396423"/>
            <a:ext cx="289682" cy="28968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691640" y="52029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1691640" y="5468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until stable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5212080" y="523951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steps 2–3. When centres barely move, you're done!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TRICKY PART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You Choose K?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937760" cy="4160520"/>
          </a:xfrm>
          <a:prstGeom prst="roundRect">
            <a:avLst>
              <a:gd name="adj" fmla="val 2637"/>
            </a:avLst>
          </a:prstGeom>
          <a:solidFill>
            <a:srgbClr val="FEF4E3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2878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96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Elbow Method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several values of K and measure the error (how spread out points are from their centre).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drops fast, then flattens. The “</a:t>
            </a: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— where the curve bends — is usually the best K.</a:t>
            </a:r>
            <a:endParaRPr lang="en-US" sz="13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852160" y="192024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73152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Elbow → K = 3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K-Means Is Used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2306117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0584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shoppers by behaviour to target marketing.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E4FAF5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6248" y="2139696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69" y="2306117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969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compression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62940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thousands of colours down to a key few.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EEBE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288536"/>
            <a:ext cx="640080" cy="640080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9" y="4454957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00584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fraud or faults that don't fit any cluster.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EF4E3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4288536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69" y="4454957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885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grouping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629400" y="50017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articles or reviews into topics automatically.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TOOL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K-Means: Pros &amp; Cons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443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80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 and explain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5935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fast, even on large datasets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7083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43068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to lots of data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084064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1600" y="50200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when groups are round &amp; separate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6537960" y="2103120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361" y="2250521"/>
            <a:ext cx="272125" cy="2721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269480" y="21031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</a:t>
            </a:r>
            <a:endParaRPr lang="en-US" sz="2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944368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95160" y="2880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choose K yourself</a:t>
            </a:r>
            <a:endParaRPr lang="en-US" sz="13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65760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95160" y="35935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start can give different results</a:t>
            </a:r>
            <a:endParaRPr lang="en-US" sz="13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70832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95160" y="43068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odd, non-round shapes</a:t>
            </a:r>
            <a:endParaRPr lang="en-US" sz="13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084064"/>
            <a:ext cx="292608" cy="29260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95160" y="50200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and scaling</a:t>
            </a:r>
            <a:endParaRPr lang="en-US" sz="1350" dirty="0"/>
          </a:p>
        </p:txBody>
      </p:sp>
      <p:sp>
        <p:nvSpPr>
          <p:cNvPr id="28" name="Shape 16"/>
          <p:cNvSpPr/>
          <p:nvPr/>
        </p:nvSpPr>
        <p:spPr>
          <a:xfrm>
            <a:off x="640080" y="65288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7"/>
          <p:cNvSpPr/>
          <p:nvPr/>
        </p:nvSpPr>
        <p:spPr>
          <a:xfrm>
            <a:off x="82296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EntryGlobe  ·  Unsupervised ML &amp; K-Means Clustering</a:t>
            </a:r>
            <a:endParaRPr lang="en-US" sz="950" dirty="0"/>
          </a:p>
        </p:txBody>
      </p:sp>
      <p:sp>
        <p:nvSpPr>
          <p:cNvPr id="30" name="Text 18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Macintosh PowerPoint</Application>
  <PresentationFormat>Widescreen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ML &amp; K-Means Clustering</dc:title>
  <dc:subject>PptxGenJS Presentation</dc:subject>
  <dc:creator>EntryGlobe</dc:creator>
  <cp:lastModifiedBy>SAMITA FOUNDATION</cp:lastModifiedBy>
  <cp:revision>2</cp:revision>
  <dcterms:created xsi:type="dcterms:W3CDTF">2026-06-09T03:26:54Z</dcterms:created>
  <dcterms:modified xsi:type="dcterms:W3CDTF">2026-06-09T05:52:42Z</dcterms:modified>
</cp:coreProperties>
</file>